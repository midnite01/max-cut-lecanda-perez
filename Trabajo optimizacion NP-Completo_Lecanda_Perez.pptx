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5E2tT+Gqt+J1R4PJV9+4yW0xk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1" name="Google Shape;31;p24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24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7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7.png"/><Relationship Id="rId9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7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7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Google Shape;88;p1"/>
          <p:cNvCxnSpPr/>
          <p:nvPr/>
        </p:nvCxnSpPr>
        <p:spPr>
          <a:xfrm>
            <a:off x="492141" y="3591697"/>
            <a:ext cx="7778648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" name="Google Shape;89;p1"/>
          <p:cNvCxnSpPr/>
          <p:nvPr/>
        </p:nvCxnSpPr>
        <p:spPr>
          <a:xfrm flipH="1">
            <a:off x="2186081" y="2158313"/>
            <a:ext cx="1" cy="1273156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0" name="Google Shape;90;p1"/>
          <p:cNvSpPr txBox="1"/>
          <p:nvPr/>
        </p:nvSpPr>
        <p:spPr>
          <a:xfrm>
            <a:off x="2120209" y="2036739"/>
            <a:ext cx="6287521" cy="120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Problema NP-Completo: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Max-Cut</a:t>
            </a:r>
            <a:endParaRPr b="1" i="0" sz="2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852705" y="3768770"/>
            <a:ext cx="5438590" cy="120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Integrantes: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Daniella Lecanda G.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Gabo</a:t>
            </a:r>
            <a:endParaRPr/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 b="24764" l="0" r="0" t="25505"/>
          <a:stretch/>
        </p:blipFill>
        <p:spPr>
          <a:xfrm>
            <a:off x="0" y="0"/>
            <a:ext cx="9158013" cy="1435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 b="5990" l="-153" r="153" t="46510"/>
          <a:stretch/>
        </p:blipFill>
        <p:spPr>
          <a:xfrm>
            <a:off x="-14013" y="5486719"/>
            <a:ext cx="9172026" cy="1371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6349" y="2158313"/>
            <a:ext cx="1279083" cy="118959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346841" y="181829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3192745" y="4695031"/>
            <a:ext cx="543859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Curso: Optimización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Profesor: Luis Fuentes L.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NRC: 7924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Fecha: 04/05/2026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 txBox="1"/>
          <p:nvPr/>
        </p:nvSpPr>
        <p:spPr>
          <a:xfrm>
            <a:off x="164592" y="9144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Problema: Max-Cut</a:t>
            </a:r>
            <a:endParaRPr b="1" i="0" sz="2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502920" y="987552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581111"/>
                </a:solidFill>
                <a:latin typeface="Calibri"/>
                <a:ea typeface="Calibri"/>
                <a:cs typeface="Calibri"/>
                <a:sym typeface="Calibri"/>
              </a:rPr>
              <a:t>Descripción simple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502920" y="1417320"/>
            <a:ext cx="3977639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Max-Cut analiza un grafo y busca dividir sus nodos en dos grupos.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La calidad de la división se mide por las aristas que cruzan entre grupos.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El objetivo es maximizar esa cantidad de conexiones, o su peso si el grafo es ponderado.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Es útil para estudiar redes, circuitos y problemas donde una separación binaria afecta el rendimiento.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594360" y="3749039"/>
            <a:ext cx="3794760" cy="960120"/>
          </a:xfrm>
          <a:prstGeom prst="roundRect">
            <a:avLst>
              <a:gd fmla="val 16667" name="adj"/>
            </a:avLst>
          </a:prstGeom>
          <a:solidFill>
            <a:srgbClr val="FFFAFA"/>
          </a:solidFill>
          <a:ln cap="flat" cmpd="sng" w="12700">
            <a:solidFill>
              <a:srgbClr val="911E1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594360" y="3749039"/>
            <a:ext cx="3794760" cy="411480"/>
          </a:xfrm>
          <a:prstGeom prst="roundRect">
            <a:avLst>
              <a:gd fmla="val 16667" name="adj"/>
            </a:avLst>
          </a:prstGeom>
          <a:solidFill>
            <a:srgbClr val="801C1C"/>
          </a:solidFill>
          <a:ln cap="flat" cmpd="sng" w="9525">
            <a:solidFill>
              <a:srgbClr val="801C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Idea central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704088" y="4187952"/>
            <a:ext cx="3575304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basta con separar los nodos: se busca la separación que deja más aristas “cortadas” entre ambos lados.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4800600" y="987552"/>
            <a:ext cx="397763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581111"/>
                </a:solidFill>
                <a:latin typeface="Calibri"/>
                <a:ea typeface="Calibri"/>
                <a:cs typeface="Calibri"/>
                <a:sym typeface="Calibri"/>
              </a:rPr>
              <a:t>Ejemplo ilustrativo: red de interacciones</a:t>
            </a:r>
            <a:endParaRPr/>
          </a:p>
        </p:txBody>
      </p:sp>
      <p:cxnSp>
        <p:nvCxnSpPr>
          <p:cNvPr id="111" name="Google Shape;111;p2"/>
          <p:cNvCxnSpPr/>
          <p:nvPr/>
        </p:nvCxnSpPr>
        <p:spPr>
          <a:xfrm>
            <a:off x="6720840" y="1691640"/>
            <a:ext cx="0" cy="2651760"/>
          </a:xfrm>
          <a:prstGeom prst="straightConnector1">
            <a:avLst/>
          </a:prstGeom>
          <a:noFill/>
          <a:ln cap="flat" cmpd="sng" w="12700">
            <a:solidFill>
              <a:srgbClr val="969696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2" name="Google Shape;112;p2"/>
          <p:cNvCxnSpPr/>
          <p:nvPr/>
        </p:nvCxnSpPr>
        <p:spPr>
          <a:xfrm>
            <a:off x="5532120" y="2011679"/>
            <a:ext cx="0" cy="1097281"/>
          </a:xfrm>
          <a:prstGeom prst="straightConnector1">
            <a:avLst/>
          </a:prstGeom>
          <a:noFill/>
          <a:ln cap="flat" cmpd="sng" w="152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3" name="Google Shape;113;p2"/>
          <p:cNvCxnSpPr/>
          <p:nvPr/>
        </p:nvCxnSpPr>
        <p:spPr>
          <a:xfrm>
            <a:off x="8138160" y="2011679"/>
            <a:ext cx="0" cy="1097281"/>
          </a:xfrm>
          <a:prstGeom prst="straightConnector1">
            <a:avLst/>
          </a:prstGeom>
          <a:noFill/>
          <a:ln cap="flat" cmpd="sng" w="15225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4" name="Google Shape;114;p2"/>
          <p:cNvCxnSpPr/>
          <p:nvPr/>
        </p:nvCxnSpPr>
        <p:spPr>
          <a:xfrm>
            <a:off x="5532120" y="2011679"/>
            <a:ext cx="2606040" cy="0"/>
          </a:xfrm>
          <a:prstGeom prst="straightConnector1">
            <a:avLst/>
          </a:prstGeom>
          <a:noFill/>
          <a:ln cap="flat" cmpd="sng" w="21575">
            <a:solidFill>
              <a:srgbClr val="B42D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5" name="Google Shape;115;p2"/>
          <p:cNvCxnSpPr/>
          <p:nvPr/>
        </p:nvCxnSpPr>
        <p:spPr>
          <a:xfrm>
            <a:off x="5532120" y="2011679"/>
            <a:ext cx="2606040" cy="1097281"/>
          </a:xfrm>
          <a:prstGeom prst="straightConnector1">
            <a:avLst/>
          </a:prstGeom>
          <a:noFill/>
          <a:ln cap="flat" cmpd="sng" w="21575">
            <a:solidFill>
              <a:srgbClr val="B42D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6" name="Google Shape;116;p2"/>
          <p:cNvCxnSpPr/>
          <p:nvPr/>
        </p:nvCxnSpPr>
        <p:spPr>
          <a:xfrm flipH="1" rot="10800000">
            <a:off x="5532120" y="2011679"/>
            <a:ext cx="2606040" cy="1097281"/>
          </a:xfrm>
          <a:prstGeom prst="straightConnector1">
            <a:avLst/>
          </a:prstGeom>
          <a:noFill/>
          <a:ln cap="flat" cmpd="sng" w="21575">
            <a:solidFill>
              <a:srgbClr val="B42D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7" name="Google Shape;117;p2"/>
          <p:cNvCxnSpPr/>
          <p:nvPr/>
        </p:nvCxnSpPr>
        <p:spPr>
          <a:xfrm>
            <a:off x="5532120" y="3108960"/>
            <a:ext cx="2606040" cy="0"/>
          </a:xfrm>
          <a:prstGeom prst="straightConnector1">
            <a:avLst/>
          </a:prstGeom>
          <a:noFill/>
          <a:ln cap="flat" cmpd="sng" w="21575">
            <a:solidFill>
              <a:srgbClr val="B42D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8" name="Google Shape;118;p2"/>
          <p:cNvCxnSpPr/>
          <p:nvPr/>
        </p:nvCxnSpPr>
        <p:spPr>
          <a:xfrm>
            <a:off x="5532120" y="3108960"/>
            <a:ext cx="2606040" cy="1097280"/>
          </a:xfrm>
          <a:prstGeom prst="straightConnector1">
            <a:avLst/>
          </a:prstGeom>
          <a:noFill/>
          <a:ln cap="flat" cmpd="sng" w="21575">
            <a:solidFill>
              <a:srgbClr val="B42D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9" name="Google Shape;119;p2"/>
          <p:cNvCxnSpPr/>
          <p:nvPr/>
        </p:nvCxnSpPr>
        <p:spPr>
          <a:xfrm flipH="1" rot="10800000">
            <a:off x="5532120" y="3108960"/>
            <a:ext cx="2606040" cy="1097280"/>
          </a:xfrm>
          <a:prstGeom prst="straightConnector1">
            <a:avLst/>
          </a:prstGeom>
          <a:noFill/>
          <a:ln cap="flat" cmpd="sng" w="21575">
            <a:solidFill>
              <a:srgbClr val="B42D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20" name="Google Shape;120;p2"/>
          <p:cNvCxnSpPr/>
          <p:nvPr/>
        </p:nvCxnSpPr>
        <p:spPr>
          <a:xfrm>
            <a:off x="5532120" y="4206240"/>
            <a:ext cx="2606040" cy="0"/>
          </a:xfrm>
          <a:prstGeom prst="straightConnector1">
            <a:avLst/>
          </a:prstGeom>
          <a:noFill/>
          <a:ln cap="flat" cmpd="sng" w="21575">
            <a:solidFill>
              <a:srgbClr val="B42D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21" name="Google Shape;121;p2"/>
          <p:cNvSpPr/>
          <p:nvPr/>
        </p:nvSpPr>
        <p:spPr>
          <a:xfrm>
            <a:off x="5394960" y="1874519"/>
            <a:ext cx="301752" cy="301752"/>
          </a:xfrm>
          <a:prstGeom prst="ellipse">
            <a:avLst/>
          </a:prstGeom>
          <a:solidFill>
            <a:srgbClr val="801C1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5394960" y="2971800"/>
            <a:ext cx="301752" cy="301752"/>
          </a:xfrm>
          <a:prstGeom prst="ellipse">
            <a:avLst/>
          </a:prstGeom>
          <a:solidFill>
            <a:srgbClr val="801C1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5394960" y="4069080"/>
            <a:ext cx="301752" cy="301752"/>
          </a:xfrm>
          <a:prstGeom prst="ellipse">
            <a:avLst/>
          </a:prstGeom>
          <a:solidFill>
            <a:srgbClr val="801C1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8001000" y="1874519"/>
            <a:ext cx="301752" cy="301752"/>
          </a:xfrm>
          <a:prstGeom prst="ellipse">
            <a:avLst/>
          </a:prstGeom>
          <a:solidFill>
            <a:srgbClr val="285A9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5" name="Google Shape;125;p2"/>
          <p:cNvSpPr/>
          <p:nvPr/>
        </p:nvSpPr>
        <p:spPr>
          <a:xfrm>
            <a:off x="8001000" y="2971800"/>
            <a:ext cx="301752" cy="301752"/>
          </a:xfrm>
          <a:prstGeom prst="ellipse">
            <a:avLst/>
          </a:prstGeom>
          <a:solidFill>
            <a:srgbClr val="285A9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6" name="Google Shape;126;p2"/>
          <p:cNvSpPr/>
          <p:nvPr/>
        </p:nvSpPr>
        <p:spPr>
          <a:xfrm>
            <a:off x="8001000" y="4069080"/>
            <a:ext cx="301752" cy="301752"/>
          </a:xfrm>
          <a:prstGeom prst="ellipse">
            <a:avLst/>
          </a:prstGeom>
          <a:solidFill>
            <a:srgbClr val="285A9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5074920" y="452628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801C1C"/>
                </a:solidFill>
                <a:latin typeface="Calibri"/>
                <a:ea typeface="Calibri"/>
                <a:cs typeface="Calibri"/>
                <a:sym typeface="Calibri"/>
              </a:rPr>
              <a:t>Grupo A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7680960" y="452628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285A96"/>
                </a:solidFill>
                <a:latin typeface="Calibri"/>
                <a:ea typeface="Calibri"/>
                <a:cs typeface="Calibri"/>
                <a:sym typeface="Calibri"/>
              </a:rPr>
              <a:t>Grupo B</a:t>
            </a:r>
            <a:endParaRPr/>
          </a:p>
        </p:txBody>
      </p:sp>
      <p:sp>
        <p:nvSpPr>
          <p:cNvPr id="129" name="Google Shape;129;p2"/>
          <p:cNvSpPr/>
          <p:nvPr/>
        </p:nvSpPr>
        <p:spPr>
          <a:xfrm>
            <a:off x="4892040" y="4983480"/>
            <a:ext cx="3794760" cy="713232"/>
          </a:xfrm>
          <a:prstGeom prst="roundRect">
            <a:avLst>
              <a:gd fmla="val 16667" name="adj"/>
            </a:avLst>
          </a:prstGeom>
          <a:solidFill>
            <a:srgbClr val="FAFAFA"/>
          </a:solidFill>
          <a:ln cap="flat" cmpd="sng" w="12700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5001768" y="5111496"/>
            <a:ext cx="3575304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Las líneas rojas cruzan entre grupos: en este ejemplo el corte captura 7 de 9 conexiones.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1"/>
          <p:cNvSpPr txBox="1"/>
          <p:nvPr/>
        </p:nvSpPr>
        <p:spPr>
          <a:xfrm>
            <a:off x="109728" y="91440"/>
            <a:ext cx="7818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 matemático</a:t>
            </a:r>
            <a:endParaRPr/>
          </a:p>
        </p:txBody>
      </p:sp>
      <p:sp>
        <p:nvSpPr>
          <p:cNvPr id="139" name="Google Shape;139;p31"/>
          <p:cNvSpPr txBox="1"/>
          <p:nvPr/>
        </p:nvSpPr>
        <p:spPr>
          <a:xfrm>
            <a:off x="502920" y="868680"/>
            <a:ext cx="8092440" cy="2215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33332" l="-603" r="0" t="-1388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40" name="Google Shape;140;p31"/>
          <p:cNvSpPr/>
          <p:nvPr/>
        </p:nvSpPr>
        <p:spPr>
          <a:xfrm>
            <a:off x="502920" y="1353312"/>
            <a:ext cx="2587752" cy="34564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801C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1"/>
          <p:cNvSpPr/>
          <p:nvPr/>
        </p:nvSpPr>
        <p:spPr>
          <a:xfrm>
            <a:off x="502920" y="1353312"/>
            <a:ext cx="2587752" cy="457200"/>
          </a:xfrm>
          <a:prstGeom prst="roundRect">
            <a:avLst>
              <a:gd fmla="val 16667" name="adj"/>
            </a:avLst>
          </a:prstGeom>
          <a:solidFill>
            <a:srgbClr val="801C1C"/>
          </a:solidFill>
          <a:ln cap="flat" cmpd="sng" w="9525">
            <a:solidFill>
              <a:srgbClr val="801C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Entrada y variables</a:t>
            </a:r>
            <a:endParaRPr/>
          </a:p>
        </p:txBody>
      </p:sp>
      <p:sp>
        <p:nvSpPr>
          <p:cNvPr id="142" name="Google Shape;142;p31"/>
          <p:cNvSpPr txBox="1"/>
          <p:nvPr/>
        </p:nvSpPr>
        <p:spPr>
          <a:xfrm>
            <a:off x="612648" y="1901952"/>
            <a:ext cx="2368296" cy="209801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035" l="-515" r="0" t="-145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43" name="Google Shape;143;p31"/>
          <p:cNvSpPr/>
          <p:nvPr/>
        </p:nvSpPr>
        <p:spPr>
          <a:xfrm>
            <a:off x="3291840" y="1353312"/>
            <a:ext cx="2587752" cy="34564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801C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1"/>
          <p:cNvSpPr/>
          <p:nvPr/>
        </p:nvSpPr>
        <p:spPr>
          <a:xfrm>
            <a:off x="3291840" y="1353312"/>
            <a:ext cx="2587752" cy="457200"/>
          </a:xfrm>
          <a:prstGeom prst="roundRect">
            <a:avLst>
              <a:gd fmla="val 16667" name="adj"/>
            </a:avLst>
          </a:prstGeom>
          <a:solidFill>
            <a:srgbClr val="801C1C"/>
          </a:solidFill>
          <a:ln cap="flat" cmpd="sng" w="9525">
            <a:solidFill>
              <a:srgbClr val="801C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Restricciones</a:t>
            </a:r>
            <a:endParaRPr/>
          </a:p>
        </p:txBody>
      </p:sp>
      <p:sp>
        <p:nvSpPr>
          <p:cNvPr id="145" name="Google Shape;145;p31"/>
          <p:cNvSpPr txBox="1"/>
          <p:nvPr/>
        </p:nvSpPr>
        <p:spPr>
          <a:xfrm>
            <a:off x="3401568" y="1901952"/>
            <a:ext cx="2368296" cy="178651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389" l="-2057" r="0" t="-170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46" name="Google Shape;146;p31"/>
          <p:cNvSpPr/>
          <p:nvPr/>
        </p:nvSpPr>
        <p:spPr>
          <a:xfrm>
            <a:off x="6080760" y="1353312"/>
            <a:ext cx="2587752" cy="34564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801C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1"/>
          <p:cNvSpPr/>
          <p:nvPr/>
        </p:nvSpPr>
        <p:spPr>
          <a:xfrm>
            <a:off x="6080760" y="1353312"/>
            <a:ext cx="2587752" cy="457200"/>
          </a:xfrm>
          <a:prstGeom prst="roundRect">
            <a:avLst>
              <a:gd fmla="val 16667" name="adj"/>
            </a:avLst>
          </a:prstGeom>
          <a:solidFill>
            <a:srgbClr val="801C1C"/>
          </a:solidFill>
          <a:ln cap="flat" cmpd="sng" w="9525">
            <a:solidFill>
              <a:srgbClr val="801C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/>
          </a:p>
        </p:txBody>
      </p:sp>
      <p:sp>
        <p:nvSpPr>
          <p:cNvPr id="148" name="Google Shape;148;p31"/>
          <p:cNvSpPr txBox="1"/>
          <p:nvPr/>
        </p:nvSpPr>
        <p:spPr>
          <a:xfrm>
            <a:off x="6190488" y="1901952"/>
            <a:ext cx="2368296" cy="2267224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882" l="-1546" r="-1031" t="-349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49" name="Google Shape;149;p31"/>
          <p:cNvSpPr/>
          <p:nvPr/>
        </p:nvSpPr>
        <p:spPr>
          <a:xfrm>
            <a:off x="685800" y="5047489"/>
            <a:ext cx="7772400" cy="749807"/>
          </a:xfrm>
          <a:prstGeom prst="roundRect">
            <a:avLst>
              <a:gd fmla="val 16667" name="adj"/>
            </a:avLst>
          </a:prstGeom>
          <a:solidFill>
            <a:srgbClr val="FFF7F7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1"/>
          <p:cNvSpPr txBox="1"/>
          <p:nvPr/>
        </p:nvSpPr>
        <p:spPr>
          <a:xfrm>
            <a:off x="868680" y="5064789"/>
            <a:ext cx="7406640" cy="74263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9016" l="-494" r="-905" t="-327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4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4"/>
          <p:cNvSpPr txBox="1"/>
          <p:nvPr/>
        </p:nvSpPr>
        <p:spPr>
          <a:xfrm>
            <a:off x="164592" y="9144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Complejidad</a:t>
            </a:r>
            <a:endParaRPr/>
          </a:p>
        </p:txBody>
      </p:sp>
      <p:sp>
        <p:nvSpPr>
          <p:cNvPr id="159" name="Google Shape;159;p4"/>
          <p:cNvSpPr txBox="1"/>
          <p:nvPr/>
        </p:nvSpPr>
        <p:spPr>
          <a:xfrm>
            <a:off x="548640" y="1024128"/>
            <a:ext cx="374903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581111"/>
                </a:solidFill>
                <a:latin typeface="Calibri"/>
                <a:ea typeface="Calibri"/>
                <a:cs typeface="Calibri"/>
                <a:sym typeface="Calibri"/>
              </a:rPr>
              <a:t>¿Por qué está en NP?</a:t>
            </a:r>
            <a:endParaRPr/>
          </a:p>
        </p:txBody>
      </p:sp>
      <p:sp>
        <p:nvSpPr>
          <p:cNvPr id="160" name="Google Shape;160;p4"/>
          <p:cNvSpPr txBox="1"/>
          <p:nvPr/>
        </p:nvSpPr>
        <p:spPr>
          <a:xfrm>
            <a:off x="548640" y="1481328"/>
            <a:ext cx="3749039" cy="116339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4711" l="-1301" r="0" t="-157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61" name="Google Shape;161;p4"/>
          <p:cNvSpPr/>
          <p:nvPr/>
        </p:nvSpPr>
        <p:spPr>
          <a:xfrm>
            <a:off x="685800" y="3749039"/>
            <a:ext cx="3520440" cy="841248"/>
          </a:xfrm>
          <a:prstGeom prst="roundRect">
            <a:avLst>
              <a:gd fmla="val 16667" name="adj"/>
            </a:avLst>
          </a:prstGeom>
          <a:solidFill>
            <a:srgbClr val="FFFAFA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795528" y="3877055"/>
            <a:ext cx="3300984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simple: encontrar el mejor corte puede ser difícil, pero comprobar el valor de un corte propuesto es eficiente.</a:t>
            </a:r>
            <a:endParaRPr/>
          </a:p>
        </p:txBody>
      </p:sp>
      <p:sp>
        <p:nvSpPr>
          <p:cNvPr id="163" name="Google Shape;163;p4"/>
          <p:cNvSpPr txBox="1"/>
          <p:nvPr/>
        </p:nvSpPr>
        <p:spPr>
          <a:xfrm>
            <a:off x="4709160" y="1024128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581111"/>
                </a:solidFill>
                <a:latin typeface="Calibri"/>
                <a:ea typeface="Calibri"/>
                <a:cs typeface="Calibri"/>
                <a:sym typeface="Calibri"/>
              </a:rPr>
              <a:t>Intuición de NP-completitud</a:t>
            </a:r>
            <a:endParaRPr/>
          </a:p>
        </p:txBody>
      </p:sp>
      <p:sp>
        <p:nvSpPr>
          <p:cNvPr id="164" name="Google Shape;164;p4"/>
          <p:cNvSpPr txBox="1"/>
          <p:nvPr/>
        </p:nvSpPr>
        <p:spPr>
          <a:xfrm>
            <a:off x="4709160" y="1481328"/>
            <a:ext cx="379476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Max-Cut pertenece a NP y además es NP-hard: es tan difícil como los problemas más difíciles de NP.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No se conoce un algoritmo determinista que lo resuelva en tiempo polinomial para todos los casos.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En el peor caso, buscar el óptimo implica revisar una cantidad exponencial de particiones.</a:t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4800600" y="3749039"/>
            <a:ext cx="3566160" cy="841248"/>
          </a:xfrm>
          <a:prstGeom prst="roundRect">
            <a:avLst>
              <a:gd fmla="val 16667" name="adj"/>
            </a:avLst>
          </a:prstGeom>
          <a:solidFill>
            <a:srgbClr val="FFFAFA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4910328" y="3877055"/>
            <a:ext cx="3346704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Idea clave: verificar es fácil; optimizar el corte máximo es lo que produce la explosión combinatoria.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1005840" y="5166360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801C1C"/>
                </a:solidFill>
                <a:latin typeface="Calibri"/>
                <a:ea typeface="Calibri"/>
                <a:cs typeface="Calibri"/>
                <a:sym typeface="Calibri"/>
              </a:rPr>
              <a:t>Esta es la razón por la que se comparó una solución exacta con una heurística de búsqueda local.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5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5"/>
          <p:cNvSpPr txBox="1"/>
          <p:nvPr/>
        </p:nvSpPr>
        <p:spPr>
          <a:xfrm>
            <a:off x="164592" y="9144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endParaRPr/>
          </a:p>
        </p:txBody>
      </p:sp>
      <p:sp>
        <p:nvSpPr>
          <p:cNvPr id="176" name="Google Shape;176;p5"/>
          <p:cNvSpPr txBox="1"/>
          <p:nvPr/>
        </p:nvSpPr>
        <p:spPr>
          <a:xfrm>
            <a:off x="502920" y="96012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581111"/>
                </a:solidFill>
                <a:latin typeface="Calibri"/>
                <a:ea typeface="Calibri"/>
                <a:cs typeface="Calibri"/>
                <a:sym typeface="Calibri"/>
              </a:rPr>
              <a:t>Decisiones relevantes</a:t>
            </a:r>
            <a:endParaRPr/>
          </a:p>
        </p:txBody>
      </p:sp>
      <p:sp>
        <p:nvSpPr>
          <p:cNvPr id="177" name="Google Shape;177;p5"/>
          <p:cNvSpPr txBox="1"/>
          <p:nvPr/>
        </p:nvSpPr>
        <p:spPr>
          <a:xfrm>
            <a:off x="502920" y="1325880"/>
            <a:ext cx="80925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Se generaron grafos con distintos tamaños y densidades, usando las mismas instancias en Python, C++ y Java.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Fuerza bruta se usa como referencia exacta en instancias pequeñas; búsqueda local se usa para medir escalabilidad.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Se registraron métricas comunes: n, m, densidad, valor del corte, tiempo, estado, iteraciones y reinicios.</a:t>
            </a:r>
            <a:endParaRPr sz="1600"/>
          </a:p>
        </p:txBody>
      </p:sp>
      <p:sp>
        <p:nvSpPr>
          <p:cNvPr id="178" name="Google Shape;178;p5"/>
          <p:cNvSpPr/>
          <p:nvPr/>
        </p:nvSpPr>
        <p:spPr>
          <a:xfrm>
            <a:off x="594360" y="2697480"/>
            <a:ext cx="3749039" cy="2148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801C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594360" y="2697480"/>
            <a:ext cx="3749039" cy="411480"/>
          </a:xfrm>
          <a:prstGeom prst="roundRect">
            <a:avLst>
              <a:gd fmla="val 16667" name="adj"/>
            </a:avLst>
          </a:prstGeom>
          <a:solidFill>
            <a:srgbClr val="801C1C"/>
          </a:solidFill>
          <a:ln cap="flat" cmpd="sng" w="9525">
            <a:solidFill>
              <a:srgbClr val="801C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Solucíon</a:t>
            </a:r>
            <a:r>
              <a:rPr b="1" i="0" lang="es-E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base: fuerza bruta</a:t>
            </a: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704076" y="3136392"/>
            <a:ext cx="3529500" cy="13296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4587" l="-1384" r="0" t="-229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4709160" y="2697480"/>
            <a:ext cx="3749039" cy="2148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801C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4709160" y="2697480"/>
            <a:ext cx="3749039" cy="411480"/>
          </a:xfrm>
          <a:prstGeom prst="roundRect">
            <a:avLst>
              <a:gd fmla="val 16667" name="adj"/>
            </a:avLst>
          </a:prstGeom>
          <a:solidFill>
            <a:srgbClr val="801C1C"/>
          </a:solidFill>
          <a:ln cap="flat" cmpd="sng" w="9525">
            <a:solidFill>
              <a:srgbClr val="801C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Solución mejorada: búsqueda local</a:t>
            </a: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4818888" y="3136392"/>
            <a:ext cx="3529583" cy="16184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Parte desde una solución inicial y mueve vértices cuando mejora el corte.</a:t>
            </a:r>
            <a:b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Usa reinicios aleatorios para reducir el riesgo de quedarse en óptimos locales.</a:t>
            </a:r>
            <a:b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garantiza optimalidad, pero permite resolver instancias más grandes rápidamente.</a:t>
            </a:r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1005840" y="525780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 u="none" cap="none" strike="noStrike">
                <a:solidFill>
                  <a:srgbClr val="801C1C"/>
                </a:solidFill>
                <a:latin typeface="Calibri"/>
                <a:ea typeface="Calibri"/>
                <a:cs typeface="Calibri"/>
                <a:sym typeface="Calibri"/>
              </a:rPr>
              <a:t>Comparación central: exactitud garantizada versus eficiencia práctica.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6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6"/>
          <p:cNvSpPr txBox="1"/>
          <p:nvPr/>
        </p:nvSpPr>
        <p:spPr>
          <a:xfrm>
            <a:off x="164592" y="9144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 experimentales I</a:t>
            </a:r>
            <a:endParaRPr/>
          </a:p>
        </p:txBody>
      </p:sp>
      <p:sp>
        <p:nvSpPr>
          <p:cNvPr id="193" name="Google Shape;193;p6"/>
          <p:cNvSpPr txBox="1"/>
          <p:nvPr/>
        </p:nvSpPr>
        <p:spPr>
          <a:xfrm>
            <a:off x="502920" y="896112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801C1C"/>
                </a:solidFill>
                <a:latin typeface="Calibri"/>
                <a:ea typeface="Calibri"/>
                <a:cs typeface="Calibri"/>
                <a:sym typeface="Calibri"/>
              </a:rPr>
              <a:t>Comparación de tiempos y escalabilidad</a:t>
            </a:r>
            <a:endParaRPr/>
          </a:p>
        </p:txBody>
      </p:sp>
      <p:pic>
        <p:nvPicPr>
          <p:cNvPr descr="cell_61_out_0.png" id="194" name="Google Shape;19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1480" y="1234440"/>
            <a:ext cx="4069080" cy="2384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ell_63_out_0.png" id="195" name="Google Shape;19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1234440"/>
            <a:ext cx="3977639" cy="254049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6"/>
          <p:cNvSpPr/>
          <p:nvPr/>
        </p:nvSpPr>
        <p:spPr>
          <a:xfrm>
            <a:off x="716235" y="4709160"/>
            <a:ext cx="2423100" cy="685800"/>
          </a:xfrm>
          <a:prstGeom prst="roundRect">
            <a:avLst>
              <a:gd fmla="val 16667" name="adj"/>
            </a:avLst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3337560" y="4709160"/>
            <a:ext cx="2423160" cy="685800"/>
          </a:xfrm>
          <a:prstGeom prst="roundRect">
            <a:avLst>
              <a:gd fmla="val 16667" name="adj"/>
            </a:avLst>
          </a:prstGeom>
          <a:solidFill>
            <a:srgbClr val="FFFAFA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Búsqueda local mantiene tiempos bajos al aumentar el número de vértices.</a:t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6080760" y="4709160"/>
            <a:ext cx="2423160" cy="685800"/>
          </a:xfrm>
          <a:prstGeom prst="roundRect">
            <a:avLst>
              <a:gd fmla="val 16667" name="adj"/>
            </a:avLst>
          </a:prstGeom>
          <a:solidFill>
            <a:srgbClr val="FFFAFA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C++ tiende a ser más rápido, pero la mayor diferencia está en el enfoque algorítmico.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2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2"/>
          <p:cNvSpPr txBox="1"/>
          <p:nvPr/>
        </p:nvSpPr>
        <p:spPr>
          <a:xfrm>
            <a:off x="164592" y="9144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 experimentales II</a:t>
            </a:r>
            <a:endParaRPr/>
          </a:p>
        </p:txBody>
      </p:sp>
      <p:sp>
        <p:nvSpPr>
          <p:cNvPr id="207" name="Google Shape;207;p32"/>
          <p:cNvSpPr txBox="1"/>
          <p:nvPr/>
        </p:nvSpPr>
        <p:spPr>
          <a:xfrm>
            <a:off x="502920" y="896112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801C1C"/>
                </a:solidFill>
                <a:latin typeface="Calibri"/>
                <a:ea typeface="Calibri"/>
                <a:cs typeface="Calibri"/>
                <a:sym typeface="Calibri"/>
              </a:rPr>
              <a:t>Calidad de solución, speedup y diferencia entre enfoques</a:t>
            </a:r>
            <a:endParaRPr/>
          </a:p>
        </p:txBody>
      </p:sp>
      <p:pic>
        <p:nvPicPr>
          <p:cNvPr descr="cell_65_out_0.png" id="208" name="Google Shape;20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1480" y="1234440"/>
            <a:ext cx="4005072" cy="25943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ell_65_out_1.png" id="209" name="Google Shape;209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36008" y="1234440"/>
            <a:ext cx="4005072" cy="256100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2"/>
          <p:cNvSpPr/>
          <p:nvPr/>
        </p:nvSpPr>
        <p:spPr>
          <a:xfrm>
            <a:off x="594360" y="4737055"/>
            <a:ext cx="2423160" cy="685800"/>
          </a:xfrm>
          <a:prstGeom prst="roundRect">
            <a:avLst>
              <a:gd fmla="val 16667" name="adj"/>
            </a:avLst>
          </a:prstGeom>
          <a:solidFill>
            <a:srgbClr val="FFFAFA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2"/>
          <p:cNvSpPr txBox="1"/>
          <p:nvPr/>
        </p:nvSpPr>
        <p:spPr>
          <a:xfrm>
            <a:off x="704088" y="4737055"/>
            <a:ext cx="22037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Calidad cercana al óptimo en las instancias pequeñas comparables.</a:t>
            </a:r>
            <a:endParaRPr/>
          </a:p>
        </p:txBody>
      </p:sp>
      <p:sp>
        <p:nvSpPr>
          <p:cNvPr id="212" name="Google Shape;212;p32"/>
          <p:cNvSpPr/>
          <p:nvPr/>
        </p:nvSpPr>
        <p:spPr>
          <a:xfrm>
            <a:off x="3337560" y="4709160"/>
            <a:ext cx="2423160" cy="685800"/>
          </a:xfrm>
          <a:prstGeom prst="roundRect">
            <a:avLst>
              <a:gd fmla="val 16667" name="adj"/>
            </a:avLst>
          </a:prstGeom>
          <a:solidFill>
            <a:srgbClr val="FFFAFA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2"/>
          <p:cNvSpPr txBox="1"/>
          <p:nvPr/>
        </p:nvSpPr>
        <p:spPr>
          <a:xfrm>
            <a:off x="3447288" y="4759163"/>
            <a:ext cx="22037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Speedup crece a medida que aumenta n.</a:t>
            </a:r>
            <a:endParaRPr/>
          </a:p>
        </p:txBody>
      </p:sp>
      <p:sp>
        <p:nvSpPr>
          <p:cNvPr id="214" name="Google Shape;214;p32"/>
          <p:cNvSpPr/>
          <p:nvPr/>
        </p:nvSpPr>
        <p:spPr>
          <a:xfrm>
            <a:off x="6080760" y="4709160"/>
            <a:ext cx="2423160" cy="685800"/>
          </a:xfrm>
          <a:prstGeom prst="roundRect">
            <a:avLst>
              <a:gd fmla="val 16667" name="adj"/>
            </a:avLst>
          </a:prstGeom>
          <a:solidFill>
            <a:srgbClr val="FFFAFA"/>
          </a:solidFill>
          <a:ln cap="flat" cmpd="sng" w="1270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2"/>
          <p:cNvSpPr txBox="1"/>
          <p:nvPr/>
        </p:nvSpPr>
        <p:spPr>
          <a:xfrm>
            <a:off x="6190488" y="4837176"/>
            <a:ext cx="22037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 lenguaje cambia constantes; el enfoque cambia la escalabilidad.</a:t>
            </a:r>
            <a:endParaRPr/>
          </a:p>
        </p:txBody>
      </p:sp>
      <p:sp>
        <p:nvSpPr>
          <p:cNvPr id="216" name="Google Shape;216;p32"/>
          <p:cNvSpPr txBox="1"/>
          <p:nvPr/>
        </p:nvSpPr>
        <p:spPr>
          <a:xfrm>
            <a:off x="777240" y="5752326"/>
            <a:ext cx="7635240" cy="245388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7501" l="0" r="0" t="-50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8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8"/>
          <p:cNvSpPr txBox="1"/>
          <p:nvPr/>
        </p:nvSpPr>
        <p:spPr>
          <a:xfrm>
            <a:off x="164592" y="9144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502920" y="1051560"/>
            <a:ext cx="256032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801C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502920" y="1051560"/>
            <a:ext cx="2560320" cy="411480"/>
          </a:xfrm>
          <a:prstGeom prst="roundRect">
            <a:avLst>
              <a:gd fmla="val 16667" name="adj"/>
            </a:avLst>
          </a:prstGeom>
          <a:solidFill>
            <a:srgbClr val="801C1C"/>
          </a:solidFill>
          <a:ln cap="flat" cmpd="sng" w="9525">
            <a:solidFill>
              <a:srgbClr val="801C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Aprendizajes</a:t>
            </a:r>
            <a:endParaRPr/>
          </a:p>
        </p:txBody>
      </p:sp>
      <p:sp>
        <p:nvSpPr>
          <p:cNvPr id="227" name="Google Shape;227;p8"/>
          <p:cNvSpPr txBox="1"/>
          <p:nvPr/>
        </p:nvSpPr>
        <p:spPr>
          <a:xfrm>
            <a:off x="612648" y="1490472"/>
            <a:ext cx="2340863" cy="28986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Max-Cut muestra claramente la diferencia entre verificar y optimizar.</a:t>
            </a:r>
            <a:b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La fuerza bruta sirve como referencia exacta, pero no escala.</a:t>
            </a:r>
            <a:b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Las heurísticas permiten abordar tamaños mayores con buena calidad.</a:t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3291840" y="1051560"/>
            <a:ext cx="256032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801C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3291840" y="1051560"/>
            <a:ext cx="2560320" cy="411480"/>
          </a:xfrm>
          <a:prstGeom prst="roundRect">
            <a:avLst>
              <a:gd fmla="val 16667" name="adj"/>
            </a:avLst>
          </a:prstGeom>
          <a:solidFill>
            <a:srgbClr val="801C1C"/>
          </a:solidFill>
          <a:ln cap="flat" cmpd="sng" w="9525">
            <a:solidFill>
              <a:srgbClr val="801C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/>
          </a:p>
        </p:txBody>
      </p:sp>
      <p:sp>
        <p:nvSpPr>
          <p:cNvPr id="230" name="Google Shape;230;p8"/>
          <p:cNvSpPr txBox="1"/>
          <p:nvPr/>
        </p:nvSpPr>
        <p:spPr>
          <a:xfrm>
            <a:off x="3401568" y="1490472"/>
            <a:ext cx="2340863" cy="28986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Se usaron grafos generados aleatoriamente.</a:t>
            </a:r>
            <a:b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Hubo una repetición por instancia, por lo que falta analizar variabilidad.</a:t>
            </a:r>
            <a:b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Búsqueda local puede quedar atrapada en óptimos locales.</a:t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6080760" y="1051560"/>
            <a:ext cx="256032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801C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6080760" y="1051560"/>
            <a:ext cx="2560320" cy="411480"/>
          </a:xfrm>
          <a:prstGeom prst="roundRect">
            <a:avLst>
              <a:gd fmla="val 16667" name="adj"/>
            </a:avLst>
          </a:prstGeom>
          <a:solidFill>
            <a:srgbClr val="801C1C"/>
          </a:solidFill>
          <a:ln cap="flat" cmpd="sng" w="9525">
            <a:solidFill>
              <a:srgbClr val="801C1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Posibles mejoras</a:t>
            </a:r>
            <a:endParaRPr/>
          </a:p>
        </p:txBody>
      </p:sp>
      <p:sp>
        <p:nvSpPr>
          <p:cNvPr id="233" name="Google Shape;233;p8"/>
          <p:cNvSpPr txBox="1"/>
          <p:nvPr/>
        </p:nvSpPr>
        <p:spPr>
          <a:xfrm>
            <a:off x="6190488" y="1490472"/>
            <a:ext cx="2340863" cy="28986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Ejecutar más repeticiones con distintas semillas.</a:t>
            </a:r>
            <a:b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Probar grafos estructurados y casos adversos.</a:t>
            </a:r>
            <a:b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Comparar con heurísticas más avanzadas, como simulated annealing o GRASP.</a:t>
            </a:r>
            <a:endParaRPr/>
          </a:p>
        </p:txBody>
      </p:sp>
      <p:sp>
        <p:nvSpPr>
          <p:cNvPr id="234" name="Google Shape;234;p8"/>
          <p:cNvSpPr txBox="1"/>
          <p:nvPr/>
        </p:nvSpPr>
        <p:spPr>
          <a:xfrm>
            <a:off x="822960" y="5074920"/>
            <a:ext cx="749807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 u="none" cap="none" strike="noStrike">
                <a:solidFill>
                  <a:srgbClr val="801C1C"/>
                </a:solidFill>
                <a:latin typeface="Calibri"/>
                <a:ea typeface="Calibri"/>
                <a:cs typeface="Calibri"/>
                <a:sym typeface="Calibri"/>
              </a:rPr>
              <a:t>Conclusión general: para problemas NP-completos, una solución exacta es útil para validar, pero las heurísticas son necesarias para trabajar con instancias grandes.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9" name="Google Shape;239;p33"/>
          <p:cNvCxnSpPr/>
          <p:nvPr/>
        </p:nvCxnSpPr>
        <p:spPr>
          <a:xfrm>
            <a:off x="492141" y="3591697"/>
            <a:ext cx="7778648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0" name="Google Shape;240;p33"/>
          <p:cNvCxnSpPr/>
          <p:nvPr/>
        </p:nvCxnSpPr>
        <p:spPr>
          <a:xfrm flipH="1">
            <a:off x="2186081" y="2158313"/>
            <a:ext cx="1" cy="1273156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1" name="Google Shape;241;p33"/>
          <p:cNvSpPr txBox="1"/>
          <p:nvPr/>
        </p:nvSpPr>
        <p:spPr>
          <a:xfrm>
            <a:off x="2120209" y="2036739"/>
            <a:ext cx="6287521" cy="120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Problema NP-Completo: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Max-Cut</a:t>
            </a:r>
            <a:endParaRPr b="1" i="0" sz="2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3"/>
          <p:cNvSpPr txBox="1"/>
          <p:nvPr/>
        </p:nvSpPr>
        <p:spPr>
          <a:xfrm>
            <a:off x="1852705" y="3768770"/>
            <a:ext cx="543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Integrantes: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Daniella Lecanda G.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lt1"/>
                </a:solidFill>
              </a:rPr>
              <a:t>Elías Gabriel Pérez Uribe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243" name="Google Shape;243;p33"/>
          <p:cNvPicPr preferRelativeResize="0"/>
          <p:nvPr/>
        </p:nvPicPr>
        <p:blipFill rotWithShape="1">
          <a:blip r:embed="rId4">
            <a:alphaModFix/>
          </a:blip>
          <a:srcRect b="24764" l="0" r="0" t="25505"/>
          <a:stretch/>
        </p:blipFill>
        <p:spPr>
          <a:xfrm>
            <a:off x="0" y="0"/>
            <a:ext cx="9158013" cy="1435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3"/>
          <p:cNvPicPr preferRelativeResize="0"/>
          <p:nvPr/>
        </p:nvPicPr>
        <p:blipFill rotWithShape="1">
          <a:blip r:embed="rId4">
            <a:alphaModFix/>
          </a:blip>
          <a:srcRect b="5990" l="-153" r="153" t="46510"/>
          <a:stretch/>
        </p:blipFill>
        <p:spPr>
          <a:xfrm>
            <a:off x="-14013" y="5486719"/>
            <a:ext cx="9172026" cy="1371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6349" y="2158313"/>
            <a:ext cx="1279083" cy="1189591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3"/>
          <p:cNvSpPr txBox="1"/>
          <p:nvPr/>
        </p:nvSpPr>
        <p:spPr>
          <a:xfrm>
            <a:off x="346841" y="181829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3"/>
          <p:cNvSpPr txBox="1"/>
          <p:nvPr/>
        </p:nvSpPr>
        <p:spPr>
          <a:xfrm>
            <a:off x="3192745" y="4695031"/>
            <a:ext cx="543859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Curso: Optimización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Profesor: Luis Fuentes L.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NRC: 7924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Fecha: 04/05/2026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2018-06-26T20:44:09Z</dcterms:created>
  <dc:creator>Usuario de Microsoft Office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0x01010023E636E5ADFFDD4593589394D25615CE</vt:lpwstr>
  </property>
</Properties>
</file>